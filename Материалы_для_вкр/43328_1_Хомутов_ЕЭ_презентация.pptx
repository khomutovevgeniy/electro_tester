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257" r:id="rId4"/>
    <p:sldId id="285" r:id="rId5"/>
    <p:sldId id="277" r:id="rId6"/>
    <p:sldId id="278" r:id="rId7"/>
    <p:sldId id="258" r:id="rId8"/>
    <p:sldId id="279" r:id="rId9"/>
    <p:sldId id="288" r:id="rId10"/>
    <p:sldId id="276" r:id="rId11"/>
    <p:sldId id="281" r:id="rId12"/>
    <p:sldId id="282" r:id="rId13"/>
    <p:sldId id="284" r:id="rId14"/>
    <p:sldId id="286" r:id="rId15"/>
    <p:sldId id="287" r:id="rId16"/>
    <p:sldId id="280" r:id="rId17"/>
    <p:sldId id="283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071" autoAdjust="0"/>
  </p:normalViewPr>
  <p:slideViewPr>
    <p:cSldViewPr>
      <p:cViewPr>
        <p:scale>
          <a:sx n="75" d="100"/>
          <a:sy n="75" d="100"/>
        </p:scale>
        <p:origin x="1594" y="-50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C9E4F-E2B9-4705-8003-DD65DF47CC3C}" type="datetimeFigureOut">
              <a:rPr lang="ru-RU" smtClean="0"/>
              <a:t>24.06.2019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83C5B-1695-4889-82D6-0FE34EA2A08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7224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современном мире часто приходится сталкиваться с опасностями и ситуациями, в которых человек может получить травмы и повреждения, в результате которых человек испытывает боль. Международная ассоциация изучения боли определяет Боль как неприятное сенсорное и эмоциональное переживание, связанное с реальным или потенциальным поражением тканей.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настоящее время, в основном проводится субъективная оценка боли, которая заключается в определении характера, очага и степени тяжести болевого синдрома исключительно на ощущениях больного путем задания врачом соответствующих вопросов в формате «Где болит?». Объективная же оценка заключается в подкреплении полученной информации от больного качественными характеристиками болевого синдрома. </a:t>
            </a:r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Объективная оценка боли необходима для назначения адекватного лечения и его мониторинга, уточнения объема анальгетиков, принимаемых пациентом, а также для точной локализации очага боли.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настоящее время существуют и активно развиваются различные роботизированные комплексы и системы медицинского назначения,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предназначеные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dirty="0">
                <a:effectLst/>
              </a:rPr>
              <a:t>поддержания жизнедеятельности раненого при эвакуации с мест боевых действий, техногенных катастроф, и, в основном, упра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вляются в режиме телеуправления человеком-оператором. </a:t>
            </a:r>
          </a:p>
          <a:p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потере связи с оператором в процессе транспортировки система должна постоянно мониторить состояние человека, с помощью датчиков и принимать решение о медикаментозном вмешательстве (введение обезболивающего, адреналина). Чтобы человек не умер от болевого шока, в дополнение к этим датчикам должен быть добавлен датчик боли, выполненный в виде отдельного модуля и являющимся частью системы мониторинга, разработке которого посвящена данная работа.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 задача объективной оценки болевого синдрома в настоящее время достаточно актуальна. В то же время решение данной затруднено. Причина кроется в том, что для получения качественной оценки болевого синдрома необходимо решить вопрос о том, каким именно образом определять качественно боль. 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618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Иcпользуютcя</a:t>
            </a:r>
            <a:r>
              <a:rPr lang="ru-RU" dirty="0"/>
              <a:t> в </a:t>
            </a:r>
            <a:r>
              <a:rPr lang="ru-RU" dirty="0" err="1"/>
              <a:t>оcновном</a:t>
            </a:r>
            <a:r>
              <a:rPr lang="ru-RU" dirty="0"/>
              <a:t> </a:t>
            </a:r>
            <a:r>
              <a:rPr lang="ru-RU" dirty="0" err="1"/>
              <a:t>пcиxологичеcкие</a:t>
            </a:r>
            <a:r>
              <a:rPr lang="ru-RU" dirty="0"/>
              <a:t> и </a:t>
            </a:r>
            <a:r>
              <a:rPr lang="ru-RU" dirty="0" err="1"/>
              <a:t>пcиxофизиологичеcкие</a:t>
            </a:r>
            <a:r>
              <a:rPr lang="ru-RU" dirty="0"/>
              <a:t> </a:t>
            </a:r>
            <a:r>
              <a:rPr lang="ru-RU" dirty="0" err="1"/>
              <a:t>теcты</a:t>
            </a:r>
            <a:r>
              <a:rPr lang="ru-RU" dirty="0"/>
              <a:t> – визуальная аналоговая шкала, </a:t>
            </a:r>
            <a:r>
              <a:rPr lang="ru-RU" dirty="0" err="1"/>
              <a:t>цифpовые</a:t>
            </a:r>
            <a:r>
              <a:rPr lang="ru-RU" dirty="0"/>
              <a:t> шкалы, </a:t>
            </a:r>
            <a:r>
              <a:rPr lang="ru-RU" dirty="0" err="1"/>
              <a:t>опpоcники</a:t>
            </a:r>
            <a:r>
              <a:rPr lang="ru-RU" dirty="0"/>
              <a:t> </a:t>
            </a:r>
            <a:r>
              <a:rPr lang="ru-RU" dirty="0" err="1"/>
              <a:t>качеcтва</a:t>
            </a:r>
            <a:r>
              <a:rPr lang="ru-RU" dirty="0"/>
              <a:t> жизни, В которых пациенту предлагается выбрать наиболее точное описание испытываемой им боли. </a:t>
            </a:r>
            <a:r>
              <a:rPr lang="ru-RU" dirty="0" err="1"/>
              <a:t>Еcли</a:t>
            </a:r>
            <a:r>
              <a:rPr lang="ru-RU" dirty="0"/>
              <a:t> </a:t>
            </a:r>
            <a:r>
              <a:rPr lang="ru-RU" dirty="0" err="1"/>
              <a:t>иcпытуемый</a:t>
            </a:r>
            <a:r>
              <a:rPr lang="ru-RU" dirty="0"/>
              <a:t> </a:t>
            </a:r>
            <a:r>
              <a:rPr lang="ru-RU" dirty="0" err="1"/>
              <a:t>xочет</a:t>
            </a:r>
            <a:r>
              <a:rPr lang="ru-RU" dirty="0"/>
              <a:t> </a:t>
            </a:r>
            <a:r>
              <a:rPr lang="ru-RU" dirty="0" err="1"/>
              <a:t>cкpыть</a:t>
            </a:r>
            <a:r>
              <a:rPr lang="ru-RU" dirty="0"/>
              <a:t> боль или </a:t>
            </a:r>
            <a:r>
              <a:rPr lang="ru-RU" dirty="0" err="1"/>
              <a:t>пpеувеличить</a:t>
            </a:r>
            <a:r>
              <a:rPr lang="ru-RU" dirty="0"/>
              <a:t> ее, он может </a:t>
            </a:r>
            <a:r>
              <a:rPr lang="ru-RU" dirty="0" err="1"/>
              <a:t>ввеcти</a:t>
            </a:r>
            <a:r>
              <a:rPr lang="ru-RU" dirty="0"/>
              <a:t> в заблуждение </a:t>
            </a:r>
            <a:r>
              <a:rPr lang="ru-RU" dirty="0" err="1"/>
              <a:t>экcпеpиментатоpа</a:t>
            </a:r>
            <a:r>
              <a:rPr lang="ru-RU" dirty="0"/>
              <a:t> и </a:t>
            </a:r>
            <a:r>
              <a:rPr lang="ru-RU" dirty="0" err="1"/>
              <a:t>наpушить</a:t>
            </a:r>
            <a:r>
              <a:rPr lang="ru-RU" dirty="0"/>
              <a:t> </a:t>
            </a:r>
            <a:r>
              <a:rPr lang="ru-RU" dirty="0" err="1"/>
              <a:t>уcловия</a:t>
            </a:r>
            <a:r>
              <a:rPr lang="ru-RU" dirty="0"/>
              <a:t> опыта. </a:t>
            </a:r>
            <a:r>
              <a:rPr lang="ru-RU" dirty="0" err="1"/>
              <a:t>Pегиcтpация</a:t>
            </a:r>
            <a:r>
              <a:rPr lang="ru-RU" dirty="0"/>
              <a:t> изменений сердечного ритма и дыхательных паттернов указывают на то, что данный способ применим для оценки суперпозиции испытываемой боли. </a:t>
            </a:r>
          </a:p>
          <a:p>
            <a:endParaRPr lang="ru-RU" dirty="0"/>
          </a:p>
          <a:p>
            <a:r>
              <a:rPr lang="ru-RU" dirty="0"/>
              <a:t>Также </a:t>
            </a:r>
            <a:r>
              <a:rPr lang="ru-RU" dirty="0" err="1"/>
              <a:t>cущеcтвуют</a:t>
            </a:r>
            <a:r>
              <a:rPr lang="ru-RU" dirty="0"/>
              <a:t> способы, позволяющие </a:t>
            </a:r>
            <a:r>
              <a:rPr lang="ru-RU" dirty="0" err="1"/>
              <a:t>опpеделить</a:t>
            </a:r>
            <a:r>
              <a:rPr lang="ru-RU" dirty="0"/>
              <a:t> наличие боли, </a:t>
            </a:r>
            <a:r>
              <a:rPr lang="ru-RU" dirty="0" err="1"/>
              <a:t>опиpаяcь</a:t>
            </a:r>
            <a:r>
              <a:rPr lang="ru-RU" dirty="0"/>
              <a:t> на данные по биоэлектрической </a:t>
            </a:r>
            <a:r>
              <a:rPr lang="ru-RU" dirty="0" err="1"/>
              <a:t>активноcти</a:t>
            </a:r>
            <a:r>
              <a:rPr lang="ru-RU" dirty="0"/>
              <a:t> мозга. </a:t>
            </a:r>
            <a:r>
              <a:rPr lang="ru-RU" dirty="0" err="1"/>
              <a:t>Напpимеp</a:t>
            </a:r>
            <a:r>
              <a:rPr lang="ru-RU" dirty="0"/>
              <a:t>, ученые из </a:t>
            </a:r>
            <a:r>
              <a:rPr lang="ru-RU" dirty="0" err="1"/>
              <a:t>Окcфоpда</a:t>
            </a:r>
            <a:r>
              <a:rPr lang="ru-RU" dirty="0"/>
              <a:t> в </a:t>
            </a:r>
            <a:r>
              <a:rPr lang="ru-RU" dirty="0" err="1"/>
              <a:t>cвоиx</a:t>
            </a:r>
            <a:r>
              <a:rPr lang="ru-RU" dirty="0"/>
              <a:t> </a:t>
            </a:r>
            <a:r>
              <a:rPr lang="ru-RU" dirty="0" err="1"/>
              <a:t>иccледованияx</a:t>
            </a:r>
            <a:r>
              <a:rPr lang="ru-RU" dirty="0"/>
              <a:t> выявили, что </a:t>
            </a:r>
            <a:r>
              <a:rPr lang="ru-RU" dirty="0" err="1"/>
              <a:t>индикатоpом</a:t>
            </a:r>
            <a:r>
              <a:rPr lang="ru-RU" dirty="0"/>
              <a:t> боли может </a:t>
            </a:r>
            <a:r>
              <a:rPr lang="ru-RU" dirty="0" err="1"/>
              <a:t>cлужить</a:t>
            </a:r>
            <a:r>
              <a:rPr lang="ru-RU" dirty="0"/>
              <a:t> </a:t>
            </a:r>
            <a:r>
              <a:rPr lang="ru-RU" dirty="0" err="1"/>
              <a:t>активноcть</a:t>
            </a:r>
            <a:r>
              <a:rPr lang="ru-RU" dirty="0"/>
              <a:t> </a:t>
            </a:r>
            <a:r>
              <a:rPr lang="ru-RU" dirty="0" err="1"/>
              <a:t>веpxней</a:t>
            </a:r>
            <a:r>
              <a:rPr lang="ru-RU" dirty="0"/>
              <a:t> теменной </a:t>
            </a:r>
            <a:r>
              <a:rPr lang="ru-RU" dirty="0" err="1"/>
              <a:t>чаcти</a:t>
            </a:r>
            <a:r>
              <a:rPr lang="ru-RU" dirty="0"/>
              <a:t> </a:t>
            </a:r>
            <a:r>
              <a:rPr lang="ru-RU" dirty="0" err="1"/>
              <a:t>оcтpовковой</a:t>
            </a:r>
            <a:r>
              <a:rPr lang="ru-RU" dirty="0"/>
              <a:t> доли мозг. Однако подобные методы не могут локализовать область боли.</a:t>
            </a:r>
          </a:p>
          <a:p>
            <a:endParaRPr lang="ru-RU" dirty="0"/>
          </a:p>
          <a:p>
            <a:r>
              <a:rPr lang="ru-RU" dirty="0"/>
              <a:t>Электрофизиологический же способ позволяет  заключается в мониторинге импеданса поверхности кожи.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110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Известно, что кожные/подкожные покровы, внутренние органы, мышцы человека имеют сопротивление и емкость.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Существуют исследования, показывающие, что в точке локализации мышечной боли, наличии внешних и внутренних повреждений значения коэффициента затухания отклоняются от средних значений вокруг очага боли, чем объективно выделяют болевую зону и позволяют количественно оценить ее тяжесть.</a:t>
            </a:r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Данный способ заключается в определении коэффициента затухания электрического импульса при прохождении через покровы человека.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729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работы является разработка устройства для исследования способа объективной оценки болевого синдрома человека. Для ее достижения было необходимо: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проанализировать существующие способы и устройства оценки боли;</a:t>
            </a:r>
          </a:p>
          <a:p>
            <a:pPr marL="171450" indent="-171450">
              <a:buFontTx/>
              <a:buChar char="-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выбрать наиболее подходящий способ объективной оценки боли;</a:t>
            </a:r>
          </a:p>
          <a:p>
            <a:pPr marL="171450" indent="-171450">
              <a:buFontTx/>
              <a:buChar char="-"/>
            </a:pP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рассмотреть возможности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реализации;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разработать структурную, функциональную и электрическую схемы аппаратной части устройства, позволяющего реализовать предложенный способ оценки;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спроектировать макет устройства.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63608B-25C3-4DEE-B459-78ADE8900EE8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качестве генерируемого сигнала выбран прямоугольный импульс, так как он имеет простую форму, и его удобно анализировать.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Кожа человека является сильным диэлектриком и для того, чтобы импульс смог «пробить» ее, необходимо приложить большое напряжение, поэтому принято решение реализовать возможность регулирования амплитуды напряжения в диапазоне от 100 до 300 В.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Максимальное значение средней силы тока 50 мкА, которое является безопасным для человека.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Частота генерации сигналов не более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en-US" sz="120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200 Гц с, так как при низкочастотном режиме устройство менее подвержено помехам, чем при работе в высокочастотном.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850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>
          <a:xfrm>
            <a:off x="685830" y="4343322"/>
            <a:ext cx="5486309" cy="276999"/>
          </a:xfrm>
        </p:spPr>
        <p:txBody>
          <a:bodyPr>
            <a:spAutoFit/>
          </a:bodyPr>
          <a:lstStyle/>
          <a:p>
            <a:endParaRPr lang="x-none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 работы проектируемого устройства заключается в следующем: импульс пропускается через электрод 1, прикладываемый к зоне поражения кожи человека. Далее, испускаемый импульс улавливается и регистрируется электродом 2, сигнал с электрода 2 через усилитель сигнала поступает на вход встроенного АЦП микроконтроллера.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Генерация импульсов осуществляется с помощью генератора импульсов на основе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бустерного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преобразователя напряжения без гальванической развязки.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поддержание величины напряжения на выходе генератора импульсов отвечает ШИМ – контроллер.</a:t>
            </a:r>
          </a:p>
          <a:p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параметры генерируемого импульса, а также его считывание и отправку на компьютер и в систему управления робота, отвечает микроконтроллер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STM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32. </a:t>
            </a:r>
          </a:p>
          <a:p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Общение с системой управления робота и компьютером осуществляется по стандартному интерфейсу связи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UART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через преобразователь интерфейса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USB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UART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базе чипа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2102.</a:t>
            </a:r>
          </a:p>
          <a:p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Устройство снабжено аккумуляторным источником питания с стабилизатором напряжения 5 В. Логическая часть питается от 3,3 В. Силовая часть - от 12 В. Поэтому в схеме предусмотрены два преобразователя напряжения 5,0/3,3 В, 5/12 В.</a:t>
            </a:r>
            <a:endParaRPr lang="ru-RU" dirty="0">
              <a:effectLst/>
            </a:endParaRP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309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 спроектирована печатная плата устройства, 3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представлена на слайде.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233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Областью применения разработанного устройства является: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назначение адекватного лечения,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мониторинга лечения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верификации болевого синдрома,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точная локализация (поиск источника боли, а не эхо),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также использование в медицинских роботизированных комплексах и системах для проведения диагностики человека и поддержания его жизнедеятельности на время эвакуации.</a:t>
            </a:r>
            <a:endParaRPr lang="ru-RU" dirty="0">
              <a:effectLst/>
            </a:endParaRPr>
          </a:p>
          <a:p>
            <a:pPr algn="just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018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а) создание макета и проведение экспериментальных исследований, выявление недостатков и сбоев в работе устройства с дальнейшим их устранением;</a:t>
            </a:r>
            <a:endParaRPr lang="ru-RU" dirty="0">
              <a:effectLst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б) модернизация устройства для проведения удаленной экспресс-диагностики с возможностью отправки результатов сканирования на сервер для дальнейшей обработки.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в) интеграция разработанного устройства-модуля в медицинские роботизированные диагностические комплексы и системы.</a:t>
            </a:r>
            <a:endParaRPr lang="ru-RU" dirty="0">
              <a:effectLst/>
            </a:endParaRPr>
          </a:p>
          <a:p>
            <a:pPr algn="just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231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1122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Особую благодарность хочу выразить людям, которые помогали решать вопросы, появляющиеся  в процессе выполнения данной работы.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955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разработанной функциональной схемы составлена принципиальная электрическая схема и промоделирована.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Основной вопрос заключался в возможности получения высокого выходного напряжения преобразователем на основе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бустерной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схемы, а также для проверки и поиска особенностей режимов работы преобразователя и системы генерации импульсов.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верхнем слайде представлен график выходного напряжения повышающего преобразователя. На нижнем – режим работы драйвера. 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инструмент моделирования требует высокой вычислительной мощности, моделирование схем проводилось раздельно.</a:t>
            </a:r>
            <a:endParaRPr lang="ru-RU" dirty="0">
              <a:effectLst/>
            </a:endParaRP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видно из верхнего графика, получение высокого напряжения на выходе преобразователя на основе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бустерной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схемы возможно.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нижнего графика, что схема управления и генерации импульсов работает, как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задуманно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983C5B-1695-4889-82D6-0FE34EA2A08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988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5C6F-8507-4ACC-879D-693914188BE5}" type="datetime1">
              <a:rPr lang="ru-RU" smtClean="0"/>
              <a:t>25.06.2019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D8B7-0C14-402A-889D-2B719E8AF59E}" type="datetime1">
              <a:rPr lang="ru-RU" smtClean="0"/>
              <a:t>25.06.2019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C55F-D8AF-4B3B-B9F1-CF6D9CBBFC1F}" type="datetime1">
              <a:rPr lang="ru-RU" smtClean="0"/>
              <a:t>25.06.2019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D91E-7764-4EDA-8566-26C2D56C76BE}" type="datetime1">
              <a:rPr lang="ru-RU" smtClean="0"/>
              <a:t>25.06.2019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5F31-B0EB-4321-BC67-5EB58B56E74F}" type="datetime1">
              <a:rPr lang="ru-RU" smtClean="0"/>
              <a:t>25.06.2019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CD283-ABE7-4B14-9C99-655357E9BBB7}" type="datetime1">
              <a:rPr lang="ru-RU" smtClean="0"/>
              <a:t>25.06.2019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48975-FCB8-4977-81E5-2AEB2136A49C}" type="datetime1">
              <a:rPr lang="ru-RU" smtClean="0"/>
              <a:t>25.06.2019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FFC12-9744-40A4-9D2E-200038ABE244}" type="datetime1">
              <a:rPr lang="ru-RU" smtClean="0"/>
              <a:t>25.06.2019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C32E-AA47-4507-9656-AAF16ECD1C88}" type="datetime1">
              <a:rPr lang="ru-RU" smtClean="0"/>
              <a:t>25.06.2019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4915-F74D-4F0B-80CA-8C9A31B8308A}" type="datetime1">
              <a:rPr lang="ru-RU" smtClean="0"/>
              <a:t>25.06.2019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D020D-751E-4D0B-A235-70E1200F2276}" type="datetime1">
              <a:rPr lang="ru-RU" smtClean="0"/>
              <a:t>25.06.2019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FF717-78B9-4C12-B421-C85DA10E3C77}" type="datetime1">
              <a:rPr lang="ru-RU" smtClean="0"/>
              <a:t>25.06.2019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84297-9DBE-485A-8919-41C4EB7CB160}" type="datetime1">
              <a:rPr lang="ru-RU" smtClean="0"/>
              <a:t>25.06.2019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D8CB9-3BEB-4212-9DD8-2DAB4F2BE019}" type="datetime1">
              <a:rPr lang="ru-RU" smtClean="0"/>
              <a:t>25.06.2019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ВЫПУСКНАЯ КВАЛИФИКАЦИОННАЯ РАБОТА БАКАЛАВРА</a:t>
            </a:r>
            <a:br>
              <a:rPr lang="ru-RU" sz="2400" dirty="0"/>
            </a:br>
            <a:r>
              <a:rPr lang="ru-RU" sz="2400" dirty="0"/>
              <a:t>«ПРОЕКТИРОВАНИЕ УСТРОЙСТВА ДЛЯ ИССЛЕДОВАНИЯ СПОСОБА ОБЪЕКТИВНОЙ ОЦЕНКИ БОЛЕВОГО СИНДРОМА ЧЕЛОВЕКА»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83768" y="3573016"/>
            <a:ext cx="8280920" cy="2952328"/>
          </a:xfrm>
        </p:spPr>
        <p:txBody>
          <a:bodyPr numCol="2">
            <a:noAutofit/>
          </a:bodyPr>
          <a:lstStyle/>
          <a:p>
            <a:pPr algn="l">
              <a:spcBef>
                <a:spcPts val="100"/>
              </a:spcBef>
            </a:pPr>
            <a:r>
              <a:rPr lang="ru-RU" sz="2000" dirty="0">
                <a:solidFill>
                  <a:schemeClr val="tx1"/>
                </a:solidFill>
              </a:rPr>
              <a:t>Выполнил:  </a:t>
            </a:r>
          </a:p>
          <a:p>
            <a:pPr algn="l">
              <a:spcBef>
                <a:spcPts val="100"/>
              </a:spcBef>
            </a:pPr>
            <a:r>
              <a:rPr lang="ru-RU" sz="2000" dirty="0">
                <a:solidFill>
                  <a:schemeClr val="tx1"/>
                </a:solidFill>
              </a:rPr>
              <a:t>Студент гр. 43328/1</a:t>
            </a:r>
          </a:p>
          <a:p>
            <a:pPr algn="l">
              <a:spcBef>
                <a:spcPts val="100"/>
              </a:spcBef>
            </a:pPr>
            <a:endParaRPr lang="ru-RU" sz="2000" dirty="0">
              <a:solidFill>
                <a:schemeClr val="tx1"/>
              </a:solidFill>
            </a:endParaRPr>
          </a:p>
          <a:p>
            <a:pPr algn="l">
              <a:spcBef>
                <a:spcPts val="100"/>
              </a:spcBef>
            </a:pPr>
            <a:r>
              <a:rPr lang="ru-RU" sz="2000" dirty="0">
                <a:solidFill>
                  <a:schemeClr val="tx1"/>
                </a:solidFill>
              </a:rPr>
              <a:t>Руководитель</a:t>
            </a:r>
          </a:p>
          <a:p>
            <a:pPr algn="l">
              <a:spcBef>
                <a:spcPts val="100"/>
              </a:spcBef>
            </a:pPr>
            <a:r>
              <a:rPr lang="ru-RU" sz="2000" dirty="0">
                <a:solidFill>
                  <a:schemeClr val="tx1"/>
                </a:solidFill>
              </a:rPr>
              <a:t>Старший преподаватель каф. </a:t>
            </a:r>
            <a:r>
              <a:rPr lang="ru-RU" sz="2000" dirty="0" err="1">
                <a:solidFill>
                  <a:schemeClr val="tx1"/>
                </a:solidFill>
              </a:rPr>
              <a:t>МиР</a:t>
            </a:r>
            <a:endParaRPr lang="ru-RU" sz="2000" dirty="0">
              <a:solidFill>
                <a:schemeClr val="tx1"/>
              </a:solidFill>
            </a:endParaRPr>
          </a:p>
          <a:p>
            <a:pPr algn="l">
              <a:spcBef>
                <a:spcPts val="100"/>
              </a:spcBef>
            </a:pPr>
            <a:endParaRPr lang="ru-RU" sz="2000" dirty="0">
              <a:solidFill>
                <a:schemeClr val="tx1"/>
              </a:solidFill>
            </a:endParaRPr>
          </a:p>
          <a:p>
            <a:pPr algn="l">
              <a:spcBef>
                <a:spcPts val="100"/>
              </a:spcBef>
            </a:pPr>
            <a:r>
              <a:rPr lang="ru-RU" sz="2000" dirty="0">
                <a:solidFill>
                  <a:schemeClr val="tx1"/>
                </a:solidFill>
              </a:rPr>
              <a:t>Научный консультант</a:t>
            </a:r>
          </a:p>
          <a:p>
            <a:pPr algn="l">
              <a:spcBef>
                <a:spcPts val="100"/>
              </a:spcBef>
            </a:pPr>
            <a:r>
              <a:rPr lang="ru-RU" sz="2000" dirty="0">
                <a:solidFill>
                  <a:schemeClr val="tx1"/>
                </a:solidFill>
              </a:rPr>
              <a:t>Начальник лаборатории, ЦНИИ РТК</a:t>
            </a:r>
          </a:p>
          <a:p>
            <a:pPr algn="l">
              <a:spcBef>
                <a:spcPts val="100"/>
              </a:spcBef>
            </a:pPr>
            <a:endParaRPr lang="ru-RU" sz="2000" dirty="0">
              <a:solidFill>
                <a:schemeClr val="tx1"/>
              </a:solidFill>
            </a:endParaRPr>
          </a:p>
          <a:p>
            <a:pPr marL="177800" algn="l">
              <a:spcBef>
                <a:spcPts val="100"/>
              </a:spcBef>
            </a:pPr>
            <a:r>
              <a:rPr lang="ru-RU" sz="2000" dirty="0">
                <a:solidFill>
                  <a:schemeClr val="tx1"/>
                </a:solidFill>
              </a:rPr>
              <a:t>Е.Э. Хомутов</a:t>
            </a:r>
          </a:p>
          <a:p>
            <a:pPr algn="l">
              <a:spcBef>
                <a:spcPts val="100"/>
              </a:spcBef>
            </a:pPr>
            <a:endParaRPr lang="ru-RU" sz="2000" dirty="0">
              <a:solidFill>
                <a:schemeClr val="tx1"/>
              </a:solidFill>
            </a:endParaRPr>
          </a:p>
          <a:p>
            <a:pPr algn="l">
              <a:spcBef>
                <a:spcPts val="100"/>
              </a:spcBef>
            </a:pPr>
            <a:endParaRPr lang="ru-RU" sz="2000" dirty="0">
              <a:solidFill>
                <a:schemeClr val="tx1"/>
              </a:solidFill>
            </a:endParaRPr>
          </a:p>
          <a:p>
            <a:pPr marL="177800" algn="l">
              <a:spcBef>
                <a:spcPts val="100"/>
              </a:spcBef>
            </a:pPr>
            <a:r>
              <a:rPr lang="ru-RU" sz="2000" dirty="0">
                <a:solidFill>
                  <a:schemeClr val="tx1"/>
                </a:solidFill>
              </a:rPr>
              <a:t>А.С. Габриель</a:t>
            </a:r>
          </a:p>
          <a:p>
            <a:pPr algn="l">
              <a:spcBef>
                <a:spcPts val="100"/>
              </a:spcBef>
            </a:pPr>
            <a:endParaRPr lang="ru-RU" sz="2000" dirty="0">
              <a:solidFill>
                <a:schemeClr val="tx1"/>
              </a:solidFill>
            </a:endParaRPr>
          </a:p>
          <a:p>
            <a:pPr algn="l">
              <a:spcBef>
                <a:spcPts val="100"/>
              </a:spcBef>
            </a:pPr>
            <a:endParaRPr lang="ru-RU" sz="2000" dirty="0">
              <a:solidFill>
                <a:schemeClr val="tx1"/>
              </a:solidFill>
            </a:endParaRPr>
          </a:p>
          <a:p>
            <a:pPr marL="177800" algn="l">
              <a:spcBef>
                <a:spcPts val="100"/>
              </a:spcBef>
            </a:pPr>
            <a:r>
              <a:rPr lang="ru-RU" sz="2000" dirty="0">
                <a:solidFill>
                  <a:schemeClr val="tx1"/>
                </a:solidFill>
              </a:rPr>
              <a:t>Д.Н. Степанов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0D2FA1-5791-46B8-AA46-42F83F5E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75240" cy="1143000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Актуальность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FC18F1-BD88-4889-913E-2176A574D3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34" r="-1"/>
          <a:stretch/>
        </p:blipFill>
        <p:spPr>
          <a:xfrm>
            <a:off x="683569" y="1268761"/>
            <a:ext cx="3168352" cy="167737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9A13D4-1513-4EF1-8CE8-5E4A77168E39}"/>
              </a:ext>
            </a:extLst>
          </p:cNvPr>
          <p:cNvSpPr/>
          <p:nvPr/>
        </p:nvSpPr>
        <p:spPr>
          <a:xfrm>
            <a:off x="827584" y="2946139"/>
            <a:ext cx="2640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+mj-lt"/>
              </a:rPr>
              <a:t>Растяжения</a:t>
            </a:r>
          </a:p>
        </p:txBody>
      </p:sp>
      <p:pic>
        <p:nvPicPr>
          <p:cNvPr id="7" name="Рисунок 6" descr="Изображение выглядит как человек, одежда&#10;&#10;Автоматически созданное описание">
            <a:extLst>
              <a:ext uri="{FF2B5EF4-FFF2-40B4-BE49-F238E27FC236}">
                <a16:creationId xmlns:a16="http://schemas.microsoft.com/office/drawing/2014/main" id="{71076B9D-E2B0-422B-9704-FB8BAB8BE2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224" y="1268761"/>
            <a:ext cx="2157691" cy="1677378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2D12392-1A46-40A2-B85A-FB4F6F78A45C}"/>
              </a:ext>
            </a:extLst>
          </p:cNvPr>
          <p:cNvSpPr/>
          <p:nvPr/>
        </p:nvSpPr>
        <p:spPr>
          <a:xfrm>
            <a:off x="5815702" y="2946139"/>
            <a:ext cx="2640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+mj-lt"/>
              </a:rPr>
              <a:t>Боли в мышцах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26F4257-622D-4201-8BD8-D8E46310B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534" y="3563834"/>
            <a:ext cx="4774282" cy="2025005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0513E53-3A05-4185-9A82-FEDEC5D920B4}"/>
              </a:ext>
            </a:extLst>
          </p:cNvPr>
          <p:cNvSpPr/>
          <p:nvPr/>
        </p:nvSpPr>
        <p:spPr>
          <a:xfrm>
            <a:off x="2897417" y="5588839"/>
            <a:ext cx="37325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+mj-lt"/>
              </a:rPr>
              <a:t>Уточнение объема анальгетиков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1E6A046-5067-49F8-BD07-1F729591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41525"/>
            <a:ext cx="8075240" cy="1143000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Актуальность</a:t>
            </a:r>
          </a:p>
        </p:txBody>
      </p:sp>
      <p:pic>
        <p:nvPicPr>
          <p:cNvPr id="11" name="Рисунок 10" descr="Изображение выглядит как торт&#10;&#10;Автоматически созданное описание">
            <a:extLst>
              <a:ext uri="{FF2B5EF4-FFF2-40B4-BE49-F238E27FC236}">
                <a16:creationId xmlns:a16="http://schemas.microsoft.com/office/drawing/2014/main" id="{186AF269-CB66-4165-ABF8-6E74BC7CDFA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91" y="1438102"/>
            <a:ext cx="2774281" cy="1846882"/>
          </a:xfrm>
          <a:prstGeom prst="rect">
            <a:avLst/>
          </a:prstGeom>
        </p:spPr>
      </p:pic>
      <p:pic>
        <p:nvPicPr>
          <p:cNvPr id="12" name="Рисунок 11" descr="C:\Users\Evgeny\AppData\Local\Microsoft\Windows\INetCache\Content.MSO\4AD9EFE0.tmp">
            <a:extLst>
              <a:ext uri="{FF2B5EF4-FFF2-40B4-BE49-F238E27FC236}">
                <a16:creationId xmlns:a16="http://schemas.microsoft.com/office/drawing/2014/main" id="{0D959696-CC2C-4746-9C66-9FD7D4D95DF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052" y="1421904"/>
            <a:ext cx="3042657" cy="1846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836BB3C-30EF-4D3C-8711-42E98776900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27584" y="3746458"/>
            <a:ext cx="2376264" cy="2992337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объект&#10;&#10;Автоматически созданное описание">
            <a:extLst>
              <a:ext uri="{FF2B5EF4-FFF2-40B4-BE49-F238E27FC236}">
                <a16:creationId xmlns:a16="http://schemas.microsoft.com/office/drawing/2014/main" id="{728CD5E2-1FB0-4B32-97D4-021D3DB94E5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737" y="3901892"/>
            <a:ext cx="1738377" cy="283690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7EE8F5D-CBCC-4B41-8B2B-07575A39FF5C}"/>
              </a:ext>
            </a:extLst>
          </p:cNvPr>
          <p:cNvSpPr/>
          <p:nvPr/>
        </p:nvSpPr>
        <p:spPr>
          <a:xfrm>
            <a:off x="779139" y="1067490"/>
            <a:ext cx="2640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j-lt"/>
              </a:rPr>
              <a:t>LSTAT</a:t>
            </a:r>
            <a:endParaRPr lang="ru-RU" dirty="0">
              <a:latin typeface="+mj-lt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32FB1E6-8FBE-4C6E-AEF1-D161A59E1E2C}"/>
              </a:ext>
            </a:extLst>
          </p:cNvPr>
          <p:cNvSpPr/>
          <p:nvPr/>
        </p:nvSpPr>
        <p:spPr>
          <a:xfrm>
            <a:off x="5083560" y="1067490"/>
            <a:ext cx="2640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j-lt"/>
              </a:rPr>
              <a:t>LTM</a:t>
            </a:r>
            <a:endParaRPr lang="ru-RU" dirty="0">
              <a:latin typeface="+mj-lt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1719DD-337A-4A09-966D-76990C00E44B}"/>
              </a:ext>
            </a:extLst>
          </p:cNvPr>
          <p:cNvSpPr/>
          <p:nvPr/>
        </p:nvSpPr>
        <p:spPr>
          <a:xfrm>
            <a:off x="771931" y="3349950"/>
            <a:ext cx="2640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+mj-lt"/>
              </a:rPr>
              <a:t>Комплекс «АНГЕЛ»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7440728-D4AC-4E52-837C-26BDCFA40264}"/>
              </a:ext>
            </a:extLst>
          </p:cNvPr>
          <p:cNvSpPr/>
          <p:nvPr/>
        </p:nvSpPr>
        <p:spPr>
          <a:xfrm>
            <a:off x="5111976" y="3509824"/>
            <a:ext cx="2640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+mj-lt"/>
              </a:rPr>
              <a:t>Робот «Спасатель»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5FDDBC2-F153-4320-8BFA-58D9462E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17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12F40-0E2B-45A6-A544-F1C24BA8C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33" y="180146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Анализ существующих подходов оценки болевого синдрома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A888F83-07F8-4AA5-A4D2-317FF9817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551335"/>
              </p:ext>
            </p:extLst>
          </p:nvPr>
        </p:nvGraphicFramePr>
        <p:xfrm>
          <a:off x="214877" y="1700808"/>
          <a:ext cx="8714246" cy="4001329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212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3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8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effectLst/>
                        </a:rPr>
                        <a:t>Вид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ru-RU" sz="1700" dirty="0">
                          <a:effectLst/>
                        </a:rPr>
                        <a:t>способа</a:t>
                      </a:r>
                      <a:endParaRPr lang="ru-RU" sz="3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effectLst/>
                        </a:rPr>
                        <a:t>Преимущества</a:t>
                      </a:r>
                      <a:endParaRPr lang="ru-RU" sz="3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 err="1">
                          <a:effectLst/>
                        </a:rPr>
                        <a:t>Недостатки</a:t>
                      </a:r>
                      <a:endParaRPr lang="ru-RU" sz="3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62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Психологические и психофизиологические тесты</a:t>
                      </a:r>
                      <a:endParaRPr lang="ru-RU" sz="19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solidFill>
                            <a:schemeClr val="tx1"/>
                          </a:solidFill>
                          <a:effectLst/>
                        </a:rPr>
                        <a:t>Простота и доступность обработки результатов</a:t>
                      </a:r>
                      <a:endParaRPr lang="ru-RU" sz="2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solidFill>
                            <a:schemeClr val="tx1"/>
                          </a:solidFill>
                          <a:effectLst/>
                        </a:rPr>
                        <a:t>Субъективность, отсутствие в оценке качественных характеристик, глубокое понимание используемых терминов</a:t>
                      </a:r>
                      <a:endParaRPr lang="ru-RU" sz="2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5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Электрофизиологический способ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Объективизация, количественная оценка боли, возможность локализации, оценка у людей без сознания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Необходимость разработки специального устройства, проведение дополнительных исследований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67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9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Анализ сердечного ритма и дыхания</a:t>
                      </a:r>
                      <a:endParaRPr lang="ru-RU" sz="19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Существует готовый аппарат, количественная оценка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Квалифицированный специалист, не установить очаг боли, суммарная оценка  испытываемой боли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4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Анализ активностей мозга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Точная количественная оценка боли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</a:rPr>
                        <a:t>Невозможность локализации болевой зоны и определение источника патологии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798" marR="4179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9820CE6-49D9-480D-9E32-94C237F4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22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60CE6-C795-4DC4-890A-55ABF332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Электрофизиологический способ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38BDC6-F995-4388-B7AE-BCBDE8FFE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630" y="1772816"/>
            <a:ext cx="4026739" cy="3667546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544C2A-528E-4F02-9BC3-D2534223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7063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3932" y="457199"/>
            <a:ext cx="8142051" cy="640080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4500" dirty="0">
                <a:latin typeface="+mj-lt"/>
              </a:rPr>
              <a:t>Цель: </a:t>
            </a:r>
          </a:p>
          <a:p>
            <a:pPr marL="0" indent="0">
              <a:buNone/>
            </a:pPr>
            <a:endParaRPr lang="ru-RU" sz="2300" dirty="0"/>
          </a:p>
          <a:p>
            <a:pPr marL="0" indent="0">
              <a:buNone/>
            </a:pPr>
            <a:r>
              <a:rPr lang="ru-RU" sz="4600" dirty="0">
                <a:latin typeface="+mj-lt"/>
              </a:rPr>
              <a:t>разработка устройства для исследования способа объективной оценки болевого синдрома человека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4500" dirty="0">
                <a:latin typeface="+mj-lt"/>
              </a:rPr>
              <a:t>Задачи:</a:t>
            </a:r>
            <a:br>
              <a:rPr lang="ru-RU" sz="3600" dirty="0">
                <a:latin typeface="+mj-lt"/>
              </a:rPr>
            </a:br>
            <a:endParaRPr lang="ru-RU" sz="3600" dirty="0">
              <a:latin typeface="+mj-lt"/>
            </a:endParaRPr>
          </a:p>
          <a:p>
            <a:r>
              <a:rPr lang="ru-RU" sz="3600" dirty="0">
                <a:latin typeface="+mj-lt"/>
              </a:rPr>
              <a:t>проанализировать существующие способы и устройства оценки;</a:t>
            </a:r>
          </a:p>
          <a:p>
            <a:r>
              <a:rPr lang="ru-RU" sz="3600" dirty="0">
                <a:latin typeface="+mj-lt"/>
              </a:rPr>
              <a:t>выбрать наиболее подходящий способ объективной оценки боли;</a:t>
            </a:r>
          </a:p>
          <a:p>
            <a:r>
              <a:rPr lang="ru-RU" sz="3600" dirty="0">
                <a:latin typeface="+mj-lt"/>
              </a:rPr>
              <a:t>Рассмотреть возможность реализации;</a:t>
            </a:r>
          </a:p>
          <a:p>
            <a:r>
              <a:rPr lang="ru-RU" sz="3600" dirty="0">
                <a:latin typeface="+mj-lt"/>
              </a:rPr>
              <a:t>разработать структурную, функциональную и электрическую схемы устройства; </a:t>
            </a:r>
          </a:p>
          <a:p>
            <a:r>
              <a:rPr lang="ru-RU" sz="3600" dirty="0">
                <a:latin typeface="+mj-lt"/>
              </a:rPr>
              <a:t>спроектировать макет устройства.</a:t>
            </a:r>
          </a:p>
          <a:p>
            <a:r>
              <a:rPr lang="ru-RU" sz="3600" dirty="0">
                <a:latin typeface="+mj-lt"/>
              </a:rPr>
              <a:t> разработать рекомендации по дальнейшему использованию устройства.</a:t>
            </a:r>
          </a:p>
        </p:txBody>
      </p:sp>
      <p:sp>
        <p:nvSpPr>
          <p:cNvPr id="5" name="Номер слайда 8">
            <a:extLst>
              <a:ext uri="{FF2B5EF4-FFF2-40B4-BE49-F238E27FC236}">
                <a16:creationId xmlns:a16="http://schemas.microsoft.com/office/drawing/2014/main" id="{8F98B2F4-EAC7-4AAF-87CC-47354BBA0D0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522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60CE6-C795-4DC4-890A-55ABF332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Требования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EC3A43-BDB0-4A08-8863-DDA528F6E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66018"/>
            <a:ext cx="8229600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Параметры сигнала:</a:t>
            </a:r>
          </a:p>
          <a:p>
            <a:r>
              <a:rPr lang="ru-RU" dirty="0"/>
              <a:t>Форма: прямоугольный импульс;</a:t>
            </a:r>
          </a:p>
          <a:p>
            <a:r>
              <a:rPr lang="ru-RU" dirty="0"/>
              <a:t>Амплитуда напряжения: 100...300 В;</a:t>
            </a:r>
          </a:p>
          <a:p>
            <a:r>
              <a:rPr lang="ru-RU" dirty="0"/>
              <a:t>Сила тока: 50 мкА;</a:t>
            </a:r>
          </a:p>
          <a:p>
            <a:r>
              <a:rPr lang="ru-RU" dirty="0"/>
              <a:t>Частота генерации: 200 Гц;</a:t>
            </a:r>
          </a:p>
          <a:p>
            <a:r>
              <a:rPr lang="ru-RU" dirty="0"/>
              <a:t>Скважность: регулируется.</a:t>
            </a:r>
          </a:p>
          <a:p>
            <a:pPr marL="0" indent="0">
              <a:buNone/>
            </a:pPr>
            <a:r>
              <a:rPr lang="ru-RU" dirty="0"/>
              <a:t>Габариты: не более 150х100 мм;</a:t>
            </a:r>
          </a:p>
          <a:p>
            <a:pPr marL="0" indent="0">
              <a:buNone/>
            </a:pPr>
            <a:r>
              <a:rPr lang="ru-RU" dirty="0"/>
              <a:t>Возможность изменения параметров импульса.</a:t>
            </a:r>
          </a:p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2703DFA-DF01-4BF7-BE21-F861CE7C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47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BB261F-5813-41DD-9C29-02BBCEA5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EF9791-7032-44BE-92E5-F06905CE7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428625"/>
            <a:ext cx="8953500" cy="6000750"/>
          </a:xfrm>
          <a:prstGeom prst="rect">
            <a:avLst/>
          </a:prstGeom>
        </p:spPr>
      </p:pic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-540568" y="-166688"/>
            <a:ext cx="8229600" cy="1143000"/>
          </a:xfrm>
        </p:spPr>
        <p:txBody>
          <a:bodyPr>
            <a:norm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ru-RU" sz="4000" dirty="0"/>
              <a:t>Структурная схема комплекса</a:t>
            </a:r>
            <a:endParaRPr lang="x-none" sz="4000" dirty="0"/>
          </a:p>
        </p:txBody>
      </p:sp>
    </p:spTree>
    <p:extLst>
      <p:ext uri="{BB962C8B-B14F-4D97-AF65-F5344CB8AC3E}">
        <p14:creationId xmlns:p14="http://schemas.microsoft.com/office/powerpoint/2010/main" val="363975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0"/>
            <a:ext cx="7772400" cy="722511"/>
          </a:xfrm>
        </p:spPr>
        <p:txBody>
          <a:bodyPr>
            <a:normAutofit/>
          </a:bodyPr>
          <a:lstStyle/>
          <a:p>
            <a:pPr algn="l"/>
            <a:r>
              <a:rPr lang="ru-RU" sz="3200" dirty="0"/>
              <a:t>Структурная схема датчика боли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0014EF-D4BB-4D81-AF0B-CC3456B2581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1764" y="722511"/>
            <a:ext cx="8420471" cy="613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15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578495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Датчик боли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BD3099-9CF0-4823-91D4-68B8CEB4F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4529"/>
            <a:ext cx="9144000" cy="561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10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/>
          <a:lstStyle/>
          <a:p>
            <a:pPr algn="l"/>
            <a:r>
              <a:rPr lang="ru-RU" dirty="0"/>
              <a:t>Применение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69FE83-C5F3-4452-8E11-CD928A24A9A0}"/>
              </a:ext>
            </a:extLst>
          </p:cNvPr>
          <p:cNvSpPr txBox="1">
            <a:spLocks/>
          </p:cNvSpPr>
          <p:nvPr/>
        </p:nvSpPr>
        <p:spPr>
          <a:xfrm>
            <a:off x="573932" y="1470024"/>
            <a:ext cx="8142051" cy="538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Помощь в назначении лечения;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Мониторинг состояния;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Локализация очага боли;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Медицинские роботизированные системы для эвакуации и поддержания жизнедеятельности пострадавшего.</a:t>
            </a:r>
          </a:p>
        </p:txBody>
      </p:sp>
    </p:spTree>
    <p:extLst>
      <p:ext uri="{BB962C8B-B14F-4D97-AF65-F5344CB8AC3E}">
        <p14:creationId xmlns:p14="http://schemas.microsoft.com/office/powerpoint/2010/main" val="3527452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/>
          <a:lstStyle/>
          <a:p>
            <a:pPr algn="l"/>
            <a:r>
              <a:rPr lang="ru-RU" dirty="0"/>
              <a:t>Направления развития работы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69FE83-C5F3-4452-8E11-CD928A24A9A0}"/>
              </a:ext>
            </a:extLst>
          </p:cNvPr>
          <p:cNvSpPr txBox="1">
            <a:spLocks/>
          </p:cNvSpPr>
          <p:nvPr/>
        </p:nvSpPr>
        <p:spPr>
          <a:xfrm>
            <a:off x="573932" y="1470024"/>
            <a:ext cx="8142051" cy="538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Calibri" panose="020F0502020204030204" pitchFamily="34" charset="0"/>
              <a:buChar char="—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проведение экспериментальных исследований;</a:t>
            </a:r>
          </a:p>
          <a:p>
            <a:pPr marL="342900" indent="-342900" algn="l">
              <a:buFont typeface="Calibri" panose="020F0502020204030204" pitchFamily="34" charset="0"/>
              <a:buChar char="—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модернизация для самостоятельного проведения удаленной диагностики;</a:t>
            </a:r>
          </a:p>
          <a:p>
            <a:pPr marL="342900" indent="-342900" algn="l">
              <a:buFont typeface="Calibri" panose="020F0502020204030204" pitchFamily="34" charset="0"/>
              <a:buChar char="—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интеграция  в роботизированные диагностические комплексы и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4151800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/>
          <a:lstStyle/>
          <a:p>
            <a:pPr algn="l"/>
            <a:r>
              <a:rPr lang="ru-RU" dirty="0"/>
              <a:t>Публикации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69FE83-C5F3-4452-8E11-CD928A24A9A0}"/>
              </a:ext>
            </a:extLst>
          </p:cNvPr>
          <p:cNvSpPr txBox="1">
            <a:spLocks/>
          </p:cNvSpPr>
          <p:nvPr/>
        </p:nvSpPr>
        <p:spPr>
          <a:xfrm>
            <a:off x="573932" y="1470024"/>
            <a:ext cx="8142051" cy="538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А.В. Кожевникова, О.Л. Власова, Е.Э. Хомутов, В.С. Подлесный УСТРОЙСТВО ДЛЯ ИССЛЕДОВАНИЯ БОЛЕВОГО СИНДРОМА // Экстремальная робототехника. СПб: ЦНИИ РТК, 2019.</a:t>
            </a:r>
          </a:p>
        </p:txBody>
      </p:sp>
    </p:spTree>
    <p:extLst>
      <p:ext uri="{BB962C8B-B14F-4D97-AF65-F5344CB8AC3E}">
        <p14:creationId xmlns:p14="http://schemas.microsoft.com/office/powerpoint/2010/main" val="3898416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/>
          <a:lstStyle/>
          <a:p>
            <a:pPr algn="l"/>
            <a:r>
              <a:rPr lang="ru-RU" dirty="0"/>
              <a:t>Благодарность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69FE83-C5F3-4452-8E11-CD928A24A9A0}"/>
              </a:ext>
            </a:extLst>
          </p:cNvPr>
          <p:cNvSpPr txBox="1">
            <a:spLocks/>
          </p:cNvSpPr>
          <p:nvPr/>
        </p:nvSpPr>
        <p:spPr>
          <a:xfrm>
            <a:off x="573932" y="1470024"/>
            <a:ext cx="8142051" cy="538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Calibri" panose="020F0502020204030204" pitchFamily="34" charset="0"/>
              <a:buChar char="—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Д.А. Капустин, начальник лаборатории;</a:t>
            </a:r>
          </a:p>
          <a:p>
            <a:pPr marL="457200" indent="-457200" algn="l">
              <a:buFont typeface="Calibri" panose="020F0502020204030204" pitchFamily="34" charset="0"/>
              <a:buChar char="—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А.В. Кожевникова, инженер ГНИИ ВМ РФ;</a:t>
            </a:r>
          </a:p>
          <a:p>
            <a:pPr marL="457200" indent="-457200" algn="l">
              <a:buFont typeface="Calibri" panose="020F0502020204030204" pitchFamily="34" charset="0"/>
              <a:buChar char="—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А.А. Парфенов, инженер-электроник;</a:t>
            </a:r>
          </a:p>
          <a:p>
            <a:pPr marL="457200" indent="-457200" algn="l">
              <a:buFont typeface="Calibri" panose="020F0502020204030204" pitchFamily="34" charset="0"/>
              <a:buChar char="—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В.С. Подлесный, </a:t>
            </a:r>
            <a:r>
              <a:rPr lang="ru-RU" sz="2500" dirty="0">
                <a:solidFill>
                  <a:schemeClr val="tx1"/>
                </a:solidFill>
              </a:rPr>
              <a:t>инженер-электроник</a:t>
            </a:r>
            <a:r>
              <a:rPr lang="ru-RU" sz="2500" dirty="0">
                <a:solidFill>
                  <a:schemeClr val="tx1"/>
                </a:solidFill>
                <a:latin typeface="+mj-lt"/>
              </a:rPr>
              <a:t>;</a:t>
            </a:r>
          </a:p>
          <a:p>
            <a:pPr marL="457200" indent="-457200" algn="l">
              <a:buFont typeface="Calibri" panose="020F0502020204030204" pitchFamily="34" charset="0"/>
              <a:buChar char="—"/>
            </a:pPr>
            <a:r>
              <a:rPr lang="ru-RU" sz="2500" dirty="0">
                <a:solidFill>
                  <a:schemeClr val="tx1"/>
                </a:solidFill>
                <a:latin typeface="+mj-lt"/>
              </a:rPr>
              <a:t>Б.А. Спасский, начальник отдела.</a:t>
            </a:r>
          </a:p>
        </p:txBody>
      </p:sp>
    </p:spTree>
    <p:extLst>
      <p:ext uri="{BB962C8B-B14F-4D97-AF65-F5344CB8AC3E}">
        <p14:creationId xmlns:p14="http://schemas.microsoft.com/office/powerpoint/2010/main" val="3277586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087666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60CE6-C795-4DC4-890A-55ABF332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Компьютерное моделирование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BAFE43-EC0D-4B83-87F0-133CE52836C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6225"/>
            <a:ext cx="9144000" cy="2808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7C9288-9697-4D10-BBF5-040B6B57FEC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4421088"/>
            <a:ext cx="9144000" cy="242088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3B637C-C0D7-45BC-9146-B50727CE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6754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2830</TotalTime>
  <Words>1424</Words>
  <Application>Microsoft Office PowerPoint</Application>
  <PresentationFormat>Экран (4:3)</PresentationFormat>
  <Paragraphs>167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StarSymbol</vt:lpstr>
      <vt:lpstr>Times New Roman</vt:lpstr>
      <vt:lpstr>Тема Office</vt:lpstr>
      <vt:lpstr>Тема Office</vt:lpstr>
      <vt:lpstr>ВЫПУСКНАЯ КВАЛИФИКАЦИОННАЯ РАБОТА БАКАЛАВРА «ПРОЕКТИРОВАНИЕ УСТРОЙСТВА ДЛЯ ИССЛЕДОВАНИЯ СПОСОБА ОБЪЕКТИВНОЙ ОЦЕНКИ БОЛЕВОГО СИНДРОМА ЧЕЛОВЕКА»</vt:lpstr>
      <vt:lpstr>Актуальность</vt:lpstr>
      <vt:lpstr>Актуальность</vt:lpstr>
      <vt:lpstr>Анализ существующих подходов оценки болевого синдрома</vt:lpstr>
      <vt:lpstr>Электрофизиологический способ</vt:lpstr>
      <vt:lpstr>Презентация PowerPoint</vt:lpstr>
      <vt:lpstr>Требования</vt:lpstr>
      <vt:lpstr>Структурная схема комплекса</vt:lpstr>
      <vt:lpstr>Структурная схема датчика боли</vt:lpstr>
      <vt:lpstr>Датчик боли</vt:lpstr>
      <vt:lpstr>Применение</vt:lpstr>
      <vt:lpstr>Направления развития работы</vt:lpstr>
      <vt:lpstr>Публикации</vt:lpstr>
      <vt:lpstr>Благодарность</vt:lpstr>
      <vt:lpstr>Спасибо за внимание</vt:lpstr>
      <vt:lpstr>Компьютерное моделирование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БАКАЛАВРА «ИССЛЕДОВАНИЕ АЛГОРИТМОВ СТАБИЛИЗАЦИИ  ДВУХКОЛЕСНОГО БАЛАНСИРУЮЩЕГО РОБОТА»</dc:title>
  <dc:creator>Nikita Myasnyankin</dc:creator>
  <cp:lastModifiedBy>евгений хомутов</cp:lastModifiedBy>
  <cp:revision>92</cp:revision>
  <dcterms:created xsi:type="dcterms:W3CDTF">2019-06-10T20:00:35Z</dcterms:created>
  <dcterms:modified xsi:type="dcterms:W3CDTF">2019-06-25T08:21:07Z</dcterms:modified>
</cp:coreProperties>
</file>